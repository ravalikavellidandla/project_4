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notesMasterIdLst>
    <p:notesMasterId r:id="rId1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7E8B"/>
    <a:srgbClr val="12355B"/>
    <a:srgbClr val="F4A261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B3817-8CD5-4364-BAAA-A0939509414B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3BBD6-67A4-47FA-8D9F-2259E6B2BF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13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3BBD6-67A4-47FA-8D9F-2259E6B2BF6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213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3BBD6-67A4-47FA-8D9F-2259E6B2BF65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7020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3BBD6-67A4-47FA-8D9F-2259E6B2BF6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9559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3BBD6-67A4-47FA-8D9F-2259E6B2BF6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200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3BBD6-67A4-47FA-8D9F-2259E6B2BF65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95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053D-FA22-9618-595F-52FD01EAE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90610-69E8-0285-AE3F-2C4E863B9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D817C-6AA7-8ADC-CAA6-2F017F39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2A026-85F5-9F24-2BE7-9B88EF0B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ABE62-F328-98FB-7E36-1C4DEE3E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18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2B5E-3F06-6A8C-3E9A-623D3CF1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86C0E-2A8E-504E-A90B-5E1B62E40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1632-E07D-A60A-2F5F-3C579C41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7054A-D3DE-331B-4936-F2FEBD11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845EE-8052-ECD2-4D2B-EDE6DC85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05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5797-1700-70BF-23CF-2ADE6DB3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39151-71EE-5881-E565-C4B4873DE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0CAA6-4522-AFC9-4EDC-3B5AB742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60E2-E08E-D7C6-D755-FF1BBD73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5227E-A584-1E63-4EF9-3D34982B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534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431D-B7A4-D42E-0C50-AAB46D5B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46DB9-85C5-64A1-0B6D-3C5D6214C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2301A-E3C0-86B1-9ABB-283908932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63FF1-5929-91C1-D9A3-6D521095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F27C0-EA82-A5A2-25C0-4A06EC86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97E97-F26D-2887-9122-A2E92AF5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0075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902A-9AE4-691C-750D-24F955EC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613DC-B06D-52DC-9BCD-14E5A486C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EBB01-34E7-BDA0-A3E9-C3C8FF011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57D0D-5A19-7816-CF66-EF94788D3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FE25C-3C47-C04C-9913-0EED9F3D6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57B30-4AF0-DDAF-DBB7-D1A1628D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5AD841-69B3-B2F7-67C9-EA9886CF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2CEE3-D429-915D-FAF8-8C0B08F6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6871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C6AA2-3892-74FB-16F5-92B6FBED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E0A8F-5BE4-ED3D-F9D3-615DD9914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7505A-B8DC-31B1-31E1-0EC919D2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56BF9-76DD-7624-732E-FD667671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93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4B04D-D9A6-B3FF-AAFA-18E5A962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BC813-D6F8-C4B5-FBE3-3B442A5D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B4107-AEF6-A9F4-7B2D-7BA5753B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54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A493-56E7-04DC-06E7-73314110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6965D-A9A4-1327-5C7D-0BCB9A96D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DF3E2-2B39-9DE7-1192-9351DF745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74893-0460-8198-B7E8-11E5CF072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61761-7F6D-123F-D4EA-C8C39DEA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3BD2F-B253-B855-6CB2-73406077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788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53E8-BC69-BAA5-3A5E-384DB914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C88BC-3CC0-48B6-F3C4-14976E968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C8D37-F2D6-B7C8-90B3-42C989086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58BEE-EBAD-A9BE-5FCB-90C986AA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48124-4AC3-EF6D-81D7-1FCBAC12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4E05F-9254-7F8C-277F-9B123488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63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9799-8B40-9425-E669-4B311CC7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C7023-D26F-FFE4-1E38-B43940A4F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48D5E-25BD-35C7-8D11-2120A3C3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B8642-D151-329F-0BAD-7D668539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6AA80-87F7-C319-FB34-EE7ED066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83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59560-F35C-849A-D2B0-5CBC585D6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E81CB-7ED0-3FA7-4DDE-164611C28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1B9A6-2918-58E4-CBF7-DF9A5C98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FE440-7DA8-210B-BA71-551D0424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4F56E-A646-182C-16CC-093A5A3B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78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7EA04-6E43-C9EE-7384-DD2A6AB4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4F7BD-8950-52F3-4B47-94241CBE6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4A78A-46C1-B472-FC64-895CAFA84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E4E72-DFF3-43E9-B5D9-BF1029BBEAA1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6EB0D-A1EE-2B23-E2EC-3EE969D17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F6200-CF64-F547-DE38-DE20F458F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C8277-CFAA-472B-BFE6-7163ECED7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35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5FA1-8FDD-DB96-8709-00F685BC0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841" y="547328"/>
            <a:ext cx="9144000" cy="1450356"/>
          </a:xfrm>
        </p:spPr>
        <p:txBody>
          <a:bodyPr>
            <a:normAutofit/>
          </a:bodyPr>
          <a:lstStyle/>
          <a:p>
            <a:r>
              <a:rPr lang="en-AU" sz="4000" b="1" i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 and Price Prediction for Mobile Phones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EF9FF-8178-2779-739E-38C3FCF2B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417" y="3554598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en-AU" b="1" dirty="0"/>
          </a:p>
          <a:p>
            <a:pPr algn="l"/>
            <a:r>
              <a:rPr lang="en-AU" sz="2800" b="1" dirty="0">
                <a:solidFill>
                  <a:srgbClr val="087E8B"/>
                </a:solidFill>
              </a:rPr>
              <a:t>Presented by: </a:t>
            </a:r>
            <a:r>
              <a:rPr lang="en-AU" sz="2000" i="1" dirty="0">
                <a:solidFill>
                  <a:srgbClr val="333333"/>
                </a:solidFill>
              </a:rPr>
              <a:t>Ravalika</a:t>
            </a:r>
            <a:br>
              <a:rPr lang="en-AU" b="1" dirty="0"/>
            </a:br>
            <a:r>
              <a:rPr lang="en-AU" sz="2800" b="1" dirty="0">
                <a:solidFill>
                  <a:srgbClr val="087E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Organization:</a:t>
            </a:r>
            <a:r>
              <a:rPr lang="en-A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sz="2000" i="1" dirty="0">
                <a:solidFill>
                  <a:srgbClr val="333333"/>
                </a:solidFill>
              </a:rPr>
              <a:t>NextHikes IT Solutions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92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748B-E691-DCEF-D889-2178E983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i="1" dirty="0">
                <a:solidFill>
                  <a:srgbClr val="12355B"/>
                </a:solidFill>
              </a:rPr>
              <a:t>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42015-9431-C335-1738-0363FBD35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endParaRPr lang="en-AU" sz="3600" b="1" i="1" dirty="0"/>
          </a:p>
          <a:p>
            <a:r>
              <a:rPr lang="en-AU" b="1" i="1" dirty="0"/>
              <a:t>Python </a:t>
            </a:r>
          </a:p>
          <a:p>
            <a:r>
              <a:rPr lang="en-AU" b="1" i="1" dirty="0"/>
              <a:t>Pandas </a:t>
            </a:r>
          </a:p>
          <a:p>
            <a:r>
              <a:rPr lang="en-AU" b="1" i="1" dirty="0"/>
              <a:t>NumPy </a:t>
            </a:r>
          </a:p>
          <a:p>
            <a:r>
              <a:rPr lang="en-AU" b="1" i="1" dirty="0"/>
              <a:t> Seaborn </a:t>
            </a:r>
          </a:p>
          <a:p>
            <a:r>
              <a:rPr lang="en-AU" b="1" i="1" dirty="0"/>
              <a:t>Matplotlib </a:t>
            </a:r>
          </a:p>
          <a:p>
            <a:r>
              <a:rPr lang="en-AU" b="1" dirty="0"/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2213882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9468-1132-6D42-E21C-7A09EB9D0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186"/>
            <a:ext cx="10515600" cy="1208868"/>
          </a:xfrm>
        </p:spPr>
        <p:txBody>
          <a:bodyPr>
            <a:normAutofit/>
          </a:bodyPr>
          <a:lstStyle/>
          <a:p>
            <a:pPr algn="ctr"/>
            <a:r>
              <a:rPr lang="en-AU" sz="4000" b="1" i="1" dirty="0">
                <a:solidFill>
                  <a:srgbClr val="12355B"/>
                </a:solidFill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42D1-156A-C797-BA1E-4C06EA0F8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257"/>
            <a:ext cx="10515600" cy="3960705"/>
          </a:xfrm>
        </p:spPr>
        <p:txBody>
          <a:bodyPr>
            <a:normAutofit/>
          </a:bodyPr>
          <a:lstStyle/>
          <a:p>
            <a:pPr lvl="0"/>
            <a:r>
              <a:rPr lang="en-AU" sz="2000" i="1" dirty="0"/>
              <a:t>Analyze mobile phone features and their relationship with price. </a:t>
            </a:r>
          </a:p>
          <a:p>
            <a:pPr lvl="0"/>
            <a:r>
              <a:rPr lang="en-AU" sz="2000" i="1" dirty="0"/>
              <a:t>Clean and preprocess the dataset. </a:t>
            </a:r>
          </a:p>
          <a:p>
            <a:pPr lvl="0"/>
            <a:r>
              <a:rPr lang="en-AU" sz="2000" i="1" dirty="0"/>
              <a:t>Perform </a:t>
            </a:r>
            <a:r>
              <a:rPr lang="en-AU" sz="2000" b="1" i="1" dirty="0">
                <a:solidFill>
                  <a:schemeClr val="accent2"/>
                </a:solidFill>
              </a:rPr>
              <a:t>Univariate, Bivariate and Multivariate EDA</a:t>
            </a:r>
            <a:r>
              <a:rPr lang="en-AU" sz="2000" i="1" dirty="0">
                <a:solidFill>
                  <a:schemeClr val="accent2"/>
                </a:solidFill>
              </a:rPr>
              <a:t>. </a:t>
            </a:r>
          </a:p>
          <a:p>
            <a:pPr lvl="0"/>
            <a:r>
              <a:rPr lang="en-AU" sz="2000" i="1" dirty="0"/>
              <a:t>Identify the most important features affecting mobile phone prices. </a:t>
            </a:r>
          </a:p>
          <a:p>
            <a:pPr lvl="0"/>
            <a:r>
              <a:rPr lang="en-AU" sz="2000" i="1" dirty="0"/>
              <a:t>Build a </a:t>
            </a:r>
            <a:r>
              <a:rPr lang="en-AU" sz="2000" b="1" i="1" dirty="0">
                <a:solidFill>
                  <a:schemeClr val="accent2"/>
                </a:solidFill>
              </a:rPr>
              <a:t>Linear Regression model</a:t>
            </a:r>
            <a:r>
              <a:rPr lang="en-AU" sz="2000" i="1" dirty="0">
                <a:solidFill>
                  <a:schemeClr val="accent2"/>
                </a:solidFill>
              </a:rPr>
              <a:t> </a:t>
            </a:r>
            <a:r>
              <a:rPr lang="en-AU" sz="2000" i="1" dirty="0"/>
              <a:t>for price prediction. </a:t>
            </a:r>
          </a:p>
          <a:p>
            <a:pPr lvl="0"/>
            <a:r>
              <a:rPr lang="en-AU" sz="2000" i="1" dirty="0"/>
              <a:t>Evaluate the model using appropriate performance metrics</a:t>
            </a:r>
          </a:p>
          <a:p>
            <a:pPr marL="0" lvl="0" indent="0">
              <a:buNone/>
            </a:pPr>
            <a:r>
              <a:rPr lang="en-AU" sz="2000" i="1" dirty="0"/>
              <a:t>The project is designed to understand influential mobile-phone features and build a model that predicts price.</a:t>
            </a:r>
          </a:p>
        </p:txBody>
      </p:sp>
    </p:spTree>
    <p:extLst>
      <p:ext uri="{BB962C8B-B14F-4D97-AF65-F5344CB8AC3E}">
        <p14:creationId xmlns:p14="http://schemas.microsoft.com/office/powerpoint/2010/main" val="388397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0C68-9873-9DD4-E1E9-8E3C54A66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i="1" dirty="0">
                <a:solidFill>
                  <a:srgbClr val="12355B"/>
                </a:solidFill>
              </a:rPr>
              <a:t>Data Exploration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D9E5B-89CB-AA39-B907-2BB258473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1"/>
            <a:ext cx="10962736" cy="4348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sz="3000" b="1" dirty="0">
              <a:highlight>
                <a:srgbClr val="087E8B"/>
              </a:highlight>
            </a:endParaRPr>
          </a:p>
          <a:p>
            <a:pPr marL="0" indent="0">
              <a:buNone/>
            </a:pPr>
            <a:r>
              <a:rPr lang="en-AU" sz="3000" b="1" dirty="0">
                <a:solidFill>
                  <a:srgbClr val="087E8B"/>
                </a:solidFill>
              </a:rPr>
              <a:t>Data Exploration:</a:t>
            </a:r>
          </a:p>
          <a:p>
            <a:pPr lvl="0"/>
            <a:r>
              <a:rPr lang="en-AU" sz="2200" i="1" dirty="0"/>
              <a:t>Loaded the dataset using </a:t>
            </a:r>
            <a:r>
              <a:rPr lang="en-AU" sz="2000" b="1" i="1" dirty="0">
                <a:solidFill>
                  <a:schemeClr val="accent2"/>
                </a:solidFill>
              </a:rPr>
              <a:t>Pandas</a:t>
            </a:r>
            <a:r>
              <a:rPr lang="en-AU" sz="2000" i="1" dirty="0"/>
              <a:t>.</a:t>
            </a:r>
            <a:r>
              <a:rPr lang="en-AU" sz="2200" i="1" dirty="0"/>
              <a:t> </a:t>
            </a:r>
          </a:p>
          <a:p>
            <a:pPr lvl="0"/>
            <a:r>
              <a:rPr lang="en-AU" sz="2200" i="1" dirty="0"/>
              <a:t>Removed the unwanted index column. </a:t>
            </a:r>
          </a:p>
          <a:p>
            <a:pPr lvl="0"/>
            <a:r>
              <a:rPr lang="en-AU" sz="2200" i="1" dirty="0"/>
              <a:t>Checked: </a:t>
            </a:r>
          </a:p>
          <a:p>
            <a:pPr lvl="1"/>
            <a:r>
              <a:rPr lang="en-AU" sz="2200" i="1" dirty="0"/>
              <a:t>First and last records </a:t>
            </a:r>
          </a:p>
          <a:p>
            <a:pPr lvl="1"/>
            <a:r>
              <a:rPr lang="en-AU" sz="2200" i="1" dirty="0"/>
              <a:t>Dataset shape </a:t>
            </a:r>
          </a:p>
          <a:p>
            <a:pPr lvl="1"/>
            <a:r>
              <a:rPr lang="en-AU" sz="2200" i="1" dirty="0"/>
              <a:t>Data types </a:t>
            </a:r>
          </a:p>
          <a:p>
            <a:pPr lvl="1"/>
            <a:r>
              <a:rPr lang="en-AU" sz="2200" i="1" dirty="0"/>
              <a:t>Statistical summary </a:t>
            </a:r>
          </a:p>
          <a:p>
            <a:pPr lvl="1"/>
            <a:r>
              <a:rPr lang="en-AU" sz="2200" i="1" dirty="0"/>
              <a:t>Missing values </a:t>
            </a:r>
          </a:p>
          <a:p>
            <a:pPr lvl="1"/>
            <a:r>
              <a:rPr lang="en-AU" sz="2200" i="1" dirty="0"/>
              <a:t>Duplicate records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EE926-A071-FC8B-3A57-B457CD638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183" y="2303254"/>
            <a:ext cx="4867753" cy="387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4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8C6E6-D916-0C44-FE57-72DA2360B8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088" y="546755"/>
            <a:ext cx="12126912" cy="6311244"/>
          </a:xfrm>
        </p:spPr>
        <p:txBody>
          <a:bodyPr/>
          <a:lstStyle/>
          <a:p>
            <a:pPr marL="0" indent="0">
              <a:buNone/>
            </a:pPr>
            <a:endParaRPr lang="en-AU" b="1" dirty="0">
              <a:highlight>
                <a:srgbClr val="087E8B"/>
              </a:highlight>
            </a:endParaRPr>
          </a:p>
          <a:p>
            <a:pPr marL="0" indent="0">
              <a:buNone/>
            </a:pPr>
            <a:r>
              <a:rPr lang="en-AU" b="1" dirty="0">
                <a:solidFill>
                  <a:srgbClr val="087E8B"/>
                </a:solidFill>
              </a:rPr>
              <a:t>Data Preprocessing:</a:t>
            </a:r>
          </a:p>
          <a:p>
            <a:pPr lvl="0"/>
            <a:r>
              <a:rPr lang="en-AU" sz="2000" i="1" dirty="0"/>
              <a:t>Removed duplicate and missing records. </a:t>
            </a:r>
          </a:p>
          <a:p>
            <a:pPr lvl="0"/>
            <a:r>
              <a:rPr lang="en-AU" sz="2000" i="1" dirty="0"/>
              <a:t>Converted camera values such as </a:t>
            </a:r>
            <a:r>
              <a:rPr lang="en-AU" sz="2000" b="1" i="1" dirty="0">
                <a:solidFill>
                  <a:schemeClr val="accent2"/>
                </a:solidFill>
              </a:rPr>
              <a:t>"12MP" → 12</a:t>
            </a:r>
            <a:r>
              <a:rPr lang="en-AU" sz="2000" i="1" dirty="0">
                <a:solidFill>
                  <a:schemeClr val="accent2"/>
                </a:solidFill>
              </a:rPr>
              <a:t>. </a:t>
            </a:r>
          </a:p>
          <a:p>
            <a:pPr lvl="0"/>
            <a:r>
              <a:rPr lang="en-AU" sz="2000" i="1" dirty="0"/>
              <a:t>Applied </a:t>
            </a:r>
            <a:r>
              <a:rPr lang="en-AU" sz="2000" b="1" i="1" dirty="0">
                <a:solidFill>
                  <a:schemeClr val="accent2"/>
                </a:solidFill>
              </a:rPr>
              <a:t>One-Hot Encoding</a:t>
            </a:r>
            <a:r>
              <a:rPr lang="en-AU" sz="2000" i="1" dirty="0">
                <a:solidFill>
                  <a:schemeClr val="accent2"/>
                </a:solidFill>
              </a:rPr>
              <a:t> </a:t>
            </a:r>
            <a:r>
              <a:rPr lang="en-AU" sz="2000" i="1" dirty="0"/>
              <a:t>to categorical variables such as Model, Colour and Processor.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A6D9A1-D55E-D724-19D6-1C4E71B05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" y="2941608"/>
            <a:ext cx="4112995" cy="31745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C127C8-9230-D72C-355C-886DDCA01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24346"/>
            <a:ext cx="5159370" cy="37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D7CA-4D57-0858-5417-DE363AA2B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2573"/>
          </a:xfrm>
        </p:spPr>
        <p:txBody>
          <a:bodyPr>
            <a:normAutofit/>
          </a:bodyPr>
          <a:lstStyle/>
          <a:p>
            <a:pPr algn="ctr"/>
            <a:r>
              <a:rPr lang="en-AU" sz="4000" b="1" i="1" dirty="0">
                <a:solidFill>
                  <a:srgbClr val="12355B"/>
                </a:solidFill>
              </a:rPr>
              <a:t>Exploratory Data Analysis(EDA)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E1CA3-5700-01A4-182A-42484EB7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2" y="1293962"/>
            <a:ext cx="11826816" cy="5198913"/>
          </a:xfrm>
        </p:spPr>
        <p:txBody>
          <a:bodyPr/>
          <a:lstStyle/>
          <a:p>
            <a:pPr marL="0" indent="0">
              <a:buNone/>
            </a:pPr>
            <a:endParaRPr lang="en-AU" sz="2000" i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AU" sz="2000" b="1" i="1" dirty="0">
                <a:solidFill>
                  <a:schemeClr val="accent2"/>
                </a:solidFill>
              </a:rPr>
              <a:t>EDA</a:t>
            </a:r>
            <a:r>
              <a:rPr lang="en-AU" sz="2000" i="1" dirty="0"/>
              <a:t> was performed using </a:t>
            </a:r>
            <a:r>
              <a:rPr lang="en-AU" sz="2000" b="1" i="1" dirty="0">
                <a:solidFill>
                  <a:schemeClr val="accent2"/>
                </a:solidFill>
              </a:rPr>
              <a:t>univariate, bivariate, and multivariate </a:t>
            </a:r>
            <a:r>
              <a:rPr lang="en-AU" sz="2000" i="1" dirty="0"/>
              <a:t>analysis to understand data distributions, identify outliers, and study relationships between mobile phone features and price.</a:t>
            </a:r>
            <a:endParaRPr lang="en-AU" sz="2000" b="1" i="1" dirty="0"/>
          </a:p>
          <a:p>
            <a:pPr marL="0" indent="0">
              <a:buNone/>
            </a:pPr>
            <a:r>
              <a:rPr lang="en-AU" b="1" dirty="0">
                <a:solidFill>
                  <a:srgbClr val="087E8B"/>
                </a:solidFill>
              </a:rPr>
              <a:t>Univariate Analysis:</a:t>
            </a:r>
          </a:p>
          <a:p>
            <a:pPr lvl="0"/>
            <a:r>
              <a:rPr lang="en-AU" sz="2000" i="1" dirty="0"/>
              <a:t>Histograms </a:t>
            </a:r>
          </a:p>
          <a:p>
            <a:pPr lvl="0"/>
            <a:r>
              <a:rPr lang="en-AU" sz="2000" i="1" dirty="0"/>
              <a:t>Boxplots </a:t>
            </a:r>
          </a:p>
          <a:p>
            <a:pPr lvl="0"/>
            <a:r>
              <a:rPr lang="en-AU" sz="2000" i="1" dirty="0"/>
              <a:t>Bar charts </a:t>
            </a:r>
          </a:p>
          <a:p>
            <a:pPr lvl="0"/>
            <a:r>
              <a:rPr lang="en-AU" sz="2000" i="1" dirty="0"/>
              <a:t>Outlier analysis using IQR 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C7F8D4-E4E6-3119-1EBC-B992BFE5E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"/>
          <a:stretch>
            <a:fillRect/>
          </a:stretch>
        </p:blipFill>
        <p:spPr>
          <a:xfrm>
            <a:off x="4930923" y="2605177"/>
            <a:ext cx="6649955" cy="329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3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9E6E3D-4FB0-3DB6-640D-91D4AF574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41" y="1001106"/>
            <a:ext cx="5906012" cy="3078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75A4F7-6A3E-24E6-245A-5CDF08BF6D7E}"/>
              </a:ext>
            </a:extLst>
          </p:cNvPr>
          <p:cNvSpPr txBox="1"/>
          <p:nvPr/>
        </p:nvSpPr>
        <p:spPr>
          <a:xfrm>
            <a:off x="7487728" y="2924355"/>
            <a:ext cx="2294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0" i="0" dirty="0">
                <a:solidFill>
                  <a:schemeClr val="tx1"/>
                </a:solidFill>
                <a:effectLst/>
                <a:latin typeface="+mn-lt"/>
              </a:rPr>
              <a:t>Prize: 25 outliers </a:t>
            </a:r>
          </a:p>
          <a:p>
            <a:r>
              <a:rPr lang="en-AU" sz="1800" b="0" i="0" dirty="0">
                <a:solidFill>
                  <a:schemeClr val="tx1"/>
                </a:solidFill>
                <a:effectLst/>
                <a:latin typeface="+mn-lt"/>
              </a:rPr>
              <a:t>Lower limit: -5587.75 Upper limit: 34294.25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8969C-59FC-6A08-59AD-D62661F6C0B8}"/>
              </a:ext>
            </a:extLst>
          </p:cNvPr>
          <p:cNvSpPr txBox="1"/>
          <p:nvPr/>
        </p:nvSpPr>
        <p:spPr>
          <a:xfrm>
            <a:off x="6735098" y="1755986"/>
            <a:ext cx="4686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AU" sz="2000" b="1" i="1" dirty="0">
                <a:solidFill>
                  <a:srgbClr val="087E8B"/>
                </a:solidFill>
              </a:rPr>
              <a:t>Outlier analysis Prize using IQR </a:t>
            </a:r>
          </a:p>
        </p:txBody>
      </p:sp>
    </p:spTree>
    <p:extLst>
      <p:ext uri="{BB962C8B-B14F-4D97-AF65-F5344CB8AC3E}">
        <p14:creationId xmlns:p14="http://schemas.microsoft.com/office/powerpoint/2010/main" val="52876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C822-943B-5ACA-04B4-C65EDFF2B6B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8622" y="620713"/>
            <a:ext cx="11882273" cy="5556250"/>
          </a:xfrm>
        </p:spPr>
        <p:txBody>
          <a:bodyPr/>
          <a:lstStyle/>
          <a:p>
            <a:pPr marL="0" indent="0">
              <a:buNone/>
            </a:pPr>
            <a:endParaRPr lang="en-AU" sz="3200" b="1" dirty="0"/>
          </a:p>
          <a:p>
            <a:pPr marL="0" indent="0">
              <a:buNone/>
            </a:pPr>
            <a:r>
              <a:rPr lang="en-AU" b="1" dirty="0">
                <a:solidFill>
                  <a:srgbClr val="087E8B"/>
                </a:solidFill>
              </a:rPr>
              <a:t>Bivariate Analysis:</a:t>
            </a:r>
          </a:p>
          <a:p>
            <a:pPr lvl="0"/>
            <a:r>
              <a:rPr lang="en-AU" sz="2000" i="1" dirty="0"/>
              <a:t>Scatter plots </a:t>
            </a:r>
          </a:p>
          <a:p>
            <a:pPr lvl="0"/>
            <a:r>
              <a:rPr lang="en-AU" sz="2000" i="1" dirty="0"/>
              <a:t>Regression plots </a:t>
            </a:r>
          </a:p>
          <a:p>
            <a:pPr lvl="0"/>
            <a:r>
              <a:rPr lang="en-AU" sz="2000" i="1" dirty="0"/>
              <a:t>Categorical vs Numerical boxplots </a:t>
            </a:r>
          </a:p>
          <a:p>
            <a:pPr lvl="0"/>
            <a:r>
              <a:rPr lang="en-AU" sz="2000" i="1" dirty="0"/>
              <a:t>Average-price bar charts </a:t>
            </a:r>
          </a:p>
          <a:p>
            <a:pPr lvl="0"/>
            <a:r>
              <a:rPr lang="en-AU" sz="2000" i="1" dirty="0"/>
              <a:t>Count plots</a:t>
            </a:r>
          </a:p>
          <a:p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9DE8CD-B2A5-014F-F3BD-DFA600BCD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98"/>
          <a:stretch>
            <a:fillRect/>
          </a:stretch>
        </p:blipFill>
        <p:spPr>
          <a:xfrm>
            <a:off x="5491506" y="1069676"/>
            <a:ext cx="6591871" cy="45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ACF5-9BD4-F108-4F47-DEDF285F86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675" y="931863"/>
            <a:ext cx="12125325" cy="5926137"/>
          </a:xfrm>
        </p:spPr>
        <p:txBody>
          <a:bodyPr/>
          <a:lstStyle/>
          <a:p>
            <a:pPr marL="0" indent="0">
              <a:buNone/>
            </a:pPr>
            <a:endParaRPr lang="en-AU" b="1" dirty="0">
              <a:solidFill>
                <a:srgbClr val="087E8B"/>
              </a:solidFill>
            </a:endParaRPr>
          </a:p>
          <a:p>
            <a:pPr marL="0" indent="0">
              <a:buNone/>
            </a:pPr>
            <a:r>
              <a:rPr lang="en-AU" b="1" dirty="0">
                <a:solidFill>
                  <a:srgbClr val="087E8B"/>
                </a:solidFill>
              </a:rPr>
              <a:t>Multivariate Analysis:</a:t>
            </a:r>
          </a:p>
          <a:p>
            <a:pPr lvl="0"/>
            <a:r>
              <a:rPr lang="en-AU" sz="2000" i="1" dirty="0"/>
              <a:t>Pair plot </a:t>
            </a:r>
          </a:p>
          <a:p>
            <a:pPr lvl="0"/>
            <a:r>
              <a:rPr lang="en-AU" sz="2000" i="1" dirty="0"/>
              <a:t>Multivariate scatterplot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B4162-9D89-8B3E-1098-833B3E5C9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249" y="1630392"/>
            <a:ext cx="8387751" cy="47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9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50744-9019-0656-D8A4-BEC9F8A6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i="1" dirty="0">
                <a:solidFill>
                  <a:srgbClr val="12355B"/>
                </a:solidFill>
              </a:rPr>
              <a:t>Feature Extraction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97261-2616-6ADB-6180-39EBA8562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AU" b="1" dirty="0">
              <a:highlight>
                <a:srgbClr val="087E8B"/>
              </a:highlight>
            </a:endParaRPr>
          </a:p>
          <a:p>
            <a:pPr marL="0" lvl="0" indent="0">
              <a:buNone/>
            </a:pPr>
            <a:r>
              <a:rPr lang="en-AU" b="1" dirty="0">
                <a:solidFill>
                  <a:srgbClr val="087E8B"/>
                </a:solidFill>
              </a:rPr>
              <a:t>Feature Extraction:</a:t>
            </a:r>
            <a:endParaRPr lang="en-AU" b="1" i="1" dirty="0">
              <a:solidFill>
                <a:srgbClr val="087E8B"/>
              </a:solidFill>
            </a:endParaRPr>
          </a:p>
          <a:p>
            <a:pPr lvl="0"/>
            <a:r>
              <a:rPr lang="en-AU" sz="2000" i="1" dirty="0"/>
              <a:t>Used </a:t>
            </a:r>
            <a:r>
              <a:rPr lang="en-AU" sz="2000" b="1" i="1" dirty="0">
                <a:solidFill>
                  <a:schemeClr val="accent2"/>
                </a:solidFill>
              </a:rPr>
              <a:t>correlation analysis </a:t>
            </a:r>
            <a:r>
              <a:rPr lang="en-AU" sz="2000" i="1" dirty="0"/>
              <a:t>to identify features related to Prize. </a:t>
            </a:r>
          </a:p>
          <a:p>
            <a:pPr lvl="0"/>
            <a:r>
              <a:rPr lang="en-AU" sz="2000" i="1" dirty="0"/>
              <a:t>Calculated correlations between numerical features. </a:t>
            </a:r>
          </a:p>
          <a:p>
            <a:pPr lvl="0"/>
            <a:r>
              <a:rPr lang="en-AU" sz="2000" i="1" dirty="0"/>
              <a:t>Ranked features according to their relationship with price. </a:t>
            </a:r>
          </a:p>
          <a:p>
            <a:pPr lvl="0"/>
            <a:r>
              <a:rPr lang="en-AU" sz="2000" i="1" dirty="0"/>
              <a:t>Selected the most relevant features for further analysis. 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87E8B"/>
                </a:solidFill>
              </a:rPr>
              <a:t>Key Output:</a:t>
            </a:r>
          </a:p>
          <a:p>
            <a:pPr marL="0" indent="0">
              <a:buNone/>
            </a:pPr>
            <a:r>
              <a:rPr lang="en-AU" sz="2400" b="1" i="1" dirty="0">
                <a:highlight>
                  <a:srgbClr val="F4A261"/>
                </a:highlight>
              </a:rPr>
              <a:t>Correlation analysis → Important features → Price prediction</a:t>
            </a:r>
            <a:endParaRPr lang="en-AU" sz="2400" i="1" dirty="0">
              <a:highlight>
                <a:srgbClr val="F4A261"/>
              </a:highlight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30A2F-FDB5-D6D5-0A2F-4D9CA8EE5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890" y="2602877"/>
            <a:ext cx="3441291" cy="357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15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533AED9-46D7-EC31-3600-42A0BBD76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015" y="281667"/>
            <a:ext cx="7955969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31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5E55-DF17-D15C-75E6-8A8B2E7A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>
            <a:normAutofit/>
          </a:bodyPr>
          <a:lstStyle/>
          <a:p>
            <a:pPr algn="ctr"/>
            <a:r>
              <a:rPr lang="en-AU" sz="4000" b="1" i="1" dirty="0">
                <a:solidFill>
                  <a:srgbClr val="12355B"/>
                </a:solidFill>
              </a:rPr>
              <a:t>Model Building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DDF4-D85E-BC00-F87D-A38228D05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995"/>
            <a:ext cx="11284670" cy="49775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200" b="1" dirty="0"/>
          </a:p>
          <a:p>
            <a:pPr marL="0" indent="0">
              <a:buNone/>
            </a:pPr>
            <a:r>
              <a:rPr lang="en-AU" sz="3000" b="1" dirty="0">
                <a:solidFill>
                  <a:srgbClr val="087E8B"/>
                </a:solidFill>
              </a:rPr>
              <a:t>Model Building:</a:t>
            </a:r>
          </a:p>
          <a:p>
            <a:pPr lvl="0"/>
            <a:r>
              <a:rPr lang="en-AU" sz="2000" i="1" dirty="0"/>
              <a:t>Target variable</a:t>
            </a:r>
            <a:r>
              <a:rPr lang="en-AU" sz="2000" b="1" i="1" dirty="0">
                <a:solidFill>
                  <a:schemeClr val="accent2"/>
                </a:solidFill>
              </a:rPr>
              <a:t>: Prize </a:t>
            </a:r>
          </a:p>
          <a:p>
            <a:pPr lvl="0"/>
            <a:r>
              <a:rPr lang="en-AU" sz="2000" i="1" dirty="0"/>
              <a:t>Features: remaining mobile-phone attributes </a:t>
            </a:r>
          </a:p>
          <a:p>
            <a:pPr lvl="0"/>
            <a:r>
              <a:rPr lang="en-AU" sz="2000" i="1" dirty="0"/>
              <a:t>Dataset split into: </a:t>
            </a:r>
          </a:p>
          <a:p>
            <a:pPr lvl="1"/>
            <a:r>
              <a:rPr lang="en-AU" sz="2000" b="1" i="1" dirty="0">
                <a:solidFill>
                  <a:schemeClr val="accent2"/>
                </a:solidFill>
              </a:rPr>
              <a:t>80% Training </a:t>
            </a:r>
          </a:p>
          <a:p>
            <a:pPr lvl="1"/>
            <a:r>
              <a:rPr lang="en-AU" sz="2000" b="1" i="1" dirty="0">
                <a:solidFill>
                  <a:schemeClr val="accent2"/>
                </a:solidFill>
              </a:rPr>
              <a:t>20% Testing </a:t>
            </a:r>
          </a:p>
          <a:p>
            <a:pPr lvl="0"/>
            <a:r>
              <a:rPr lang="en-AU" b="1" dirty="0">
                <a:solidFill>
                  <a:srgbClr val="087E8B"/>
                </a:solidFill>
              </a:rPr>
              <a:t>Algorithm used: </a:t>
            </a:r>
            <a:r>
              <a:rPr lang="en-AU" sz="2000" b="1" i="1" dirty="0">
                <a:solidFill>
                  <a:schemeClr val="accent2"/>
                </a:solidFill>
              </a:rPr>
              <a:t>Linear Regression</a:t>
            </a:r>
          </a:p>
          <a:p>
            <a:pPr marL="0" indent="0" algn="ctr">
              <a:buNone/>
            </a:pPr>
            <a:r>
              <a:rPr lang="en-AU" sz="2000" b="1" i="1" dirty="0">
                <a:highlight>
                  <a:srgbClr val="F4A261"/>
                </a:highlight>
              </a:rPr>
              <a:t>model = LinearRegression()</a:t>
            </a:r>
          </a:p>
          <a:p>
            <a:pPr marL="0" indent="0" algn="ctr">
              <a:buNone/>
            </a:pPr>
            <a:r>
              <a:rPr lang="en-AU" sz="2000" b="1" i="1" dirty="0">
                <a:highlight>
                  <a:srgbClr val="F4A261"/>
                </a:highlight>
              </a:rPr>
              <a:t>model.fit(x_train, y_train)</a:t>
            </a:r>
          </a:p>
          <a:p>
            <a:pPr marL="0" indent="0" algn="ctr">
              <a:buNone/>
            </a:pPr>
            <a:r>
              <a:rPr lang="en-AU" sz="2000" b="1" i="1" dirty="0">
                <a:highlight>
                  <a:srgbClr val="F4A261"/>
                </a:highlight>
              </a:rPr>
              <a:t>prediction = model.predict(x_test)</a:t>
            </a:r>
          </a:p>
        </p:txBody>
      </p:sp>
    </p:spTree>
    <p:extLst>
      <p:ext uri="{BB962C8B-B14F-4D97-AF65-F5344CB8AC3E}">
        <p14:creationId xmlns:p14="http://schemas.microsoft.com/office/powerpoint/2010/main" val="627369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4635E9-20AA-BAF3-7238-913D55DD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317433" cy="1098223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087E8B"/>
                </a:solidFill>
              </a:rPr>
              <a:t>Model Evaluation:</a:t>
            </a:r>
            <a:br>
              <a:rPr lang="en-AU" sz="2800" b="1" dirty="0"/>
            </a:br>
            <a:endParaRPr lang="en-AU" sz="28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450402E-5611-D0AD-65F4-F2AEDFB7D5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" r="4006"/>
          <a:stretch>
            <a:fillRect/>
          </a:stretch>
        </p:blipFill>
        <p:spPr>
          <a:xfrm>
            <a:off x="5297864" y="987425"/>
            <a:ext cx="6429080" cy="487362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A1A7EB-EEBD-E0AB-CB65-8D5D57AAD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00899"/>
            <a:ext cx="3932237" cy="5099902"/>
          </a:xfrm>
        </p:spPr>
        <p:txBody>
          <a:bodyPr>
            <a:normAutofit/>
          </a:bodyPr>
          <a:lstStyle/>
          <a:p>
            <a:endParaRPr lang="en-AU" b="1" dirty="0"/>
          </a:p>
          <a:p>
            <a:r>
              <a:rPr lang="en-AU" sz="2000" i="1" dirty="0"/>
              <a:t>The model was evaluated using:</a:t>
            </a:r>
          </a:p>
          <a:p>
            <a:pPr lvl="0"/>
            <a:r>
              <a:rPr lang="en-AU" sz="2000" b="1" i="1" dirty="0">
                <a:solidFill>
                  <a:schemeClr val="accent2"/>
                </a:solidFill>
              </a:rPr>
              <a:t>MAE</a:t>
            </a:r>
            <a:r>
              <a:rPr lang="en-AU" sz="2000" i="1" dirty="0"/>
              <a:t> – Mean Absolute Error:</a:t>
            </a:r>
          </a:p>
          <a:p>
            <a:pPr lvl="0"/>
            <a:r>
              <a:rPr lang="en-AU" sz="2000" i="1" dirty="0"/>
              <a:t> </a:t>
            </a:r>
            <a:r>
              <a:rPr lang="en-AU" sz="2000" b="1" dirty="0">
                <a:solidFill>
                  <a:srgbClr val="00B0F0"/>
                </a:solidFill>
              </a:rPr>
              <a:t>2708.164081415078</a:t>
            </a:r>
            <a:endParaRPr lang="en-AU" sz="2000" b="1" i="1" dirty="0">
              <a:solidFill>
                <a:srgbClr val="00B0F0"/>
              </a:solidFill>
            </a:endParaRPr>
          </a:p>
          <a:p>
            <a:pPr lvl="0"/>
            <a:r>
              <a:rPr lang="en-AU" sz="2000" b="1" i="1" dirty="0">
                <a:solidFill>
                  <a:schemeClr val="accent2"/>
                </a:solidFill>
              </a:rPr>
              <a:t>RMSE</a:t>
            </a:r>
            <a:r>
              <a:rPr lang="en-AU" sz="2000" i="1" dirty="0">
                <a:solidFill>
                  <a:schemeClr val="accent2"/>
                </a:solidFill>
              </a:rPr>
              <a:t> </a:t>
            </a:r>
            <a:r>
              <a:rPr lang="en-AU" sz="2000" i="1" dirty="0"/>
              <a:t>– Root Mean Squared Error :</a:t>
            </a:r>
          </a:p>
          <a:p>
            <a:pPr lvl="0"/>
            <a:r>
              <a:rPr lang="en-AU" sz="2000" b="1" dirty="0">
                <a:solidFill>
                  <a:srgbClr val="00B0F0"/>
                </a:solidFill>
              </a:rPr>
              <a:t>7024.1547951248585</a:t>
            </a:r>
            <a:endParaRPr lang="en-AU" sz="2000" b="1" i="1" dirty="0">
              <a:solidFill>
                <a:srgbClr val="00B0F0"/>
              </a:solidFill>
            </a:endParaRPr>
          </a:p>
          <a:p>
            <a:pPr lvl="0"/>
            <a:r>
              <a:rPr lang="en-AU" sz="2000" b="1" i="1" dirty="0">
                <a:solidFill>
                  <a:schemeClr val="accent2"/>
                </a:solidFill>
              </a:rPr>
              <a:t>R² Score </a:t>
            </a:r>
            <a:r>
              <a:rPr lang="en-AU" sz="2000" i="1" dirty="0"/>
              <a:t>– Measures model fit:</a:t>
            </a:r>
          </a:p>
          <a:p>
            <a:pPr lvl="0"/>
            <a:r>
              <a:rPr lang="en-AU" sz="2000" b="1" dirty="0">
                <a:solidFill>
                  <a:srgbClr val="00B0F0"/>
                </a:solidFill>
              </a:rPr>
              <a:t>0.5320392126023581(53.2%)</a:t>
            </a:r>
            <a:endParaRPr lang="en-AU" sz="2000" b="1" i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447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0A96EF-360A-213F-852C-844082D4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52590"/>
          </a:xfrm>
        </p:spPr>
        <p:txBody>
          <a:bodyPr>
            <a:normAutofit/>
          </a:bodyPr>
          <a:lstStyle/>
          <a:p>
            <a:pPr algn="ctr"/>
            <a:r>
              <a:rPr lang="en-AU" sz="4000" b="1" i="1" dirty="0">
                <a:solidFill>
                  <a:srgbClr val="12355B"/>
                </a:solidFill>
              </a:rPr>
              <a:t>Feature Importance &amp; 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B1001-29E6-5798-EA92-9051829B2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1583704"/>
            <a:ext cx="11764651" cy="5274296"/>
          </a:xfrm>
        </p:spPr>
        <p:txBody>
          <a:bodyPr/>
          <a:lstStyle/>
          <a:p>
            <a:pPr marL="0" indent="0">
              <a:buNone/>
            </a:pPr>
            <a:endParaRPr lang="en-AU" b="1" dirty="0">
              <a:highlight>
                <a:srgbClr val="087E8B"/>
              </a:highlight>
            </a:endParaRPr>
          </a:p>
          <a:p>
            <a:pPr marL="0" indent="0">
              <a:buNone/>
            </a:pPr>
            <a:r>
              <a:rPr lang="en-AU" b="1" dirty="0">
                <a:solidFill>
                  <a:srgbClr val="087E8B"/>
                </a:solidFill>
              </a:rPr>
              <a:t>Feature Importance:</a:t>
            </a:r>
          </a:p>
          <a:p>
            <a:pPr lvl="0"/>
            <a:r>
              <a:rPr lang="en-AU" sz="2000" i="1" dirty="0"/>
              <a:t>Used </a:t>
            </a:r>
            <a:r>
              <a:rPr lang="en-AU" sz="2000" b="1" i="1" dirty="0">
                <a:solidFill>
                  <a:schemeClr val="accent2"/>
                </a:solidFill>
              </a:rPr>
              <a:t>Random Forest Regressor </a:t>
            </a:r>
            <a:r>
              <a:rPr lang="en-AU" sz="2000" i="1" dirty="0"/>
              <a:t>to calculate feature importance. </a:t>
            </a:r>
          </a:p>
          <a:p>
            <a:pPr lvl="0"/>
            <a:r>
              <a:rPr lang="en-AU" sz="2000" i="1" dirty="0"/>
              <a:t>Features were sorted from </a:t>
            </a:r>
            <a:r>
              <a:rPr lang="en-AU" sz="2000" b="1" i="1" dirty="0">
                <a:solidFill>
                  <a:schemeClr val="accent2"/>
                </a:solidFill>
              </a:rPr>
              <a:t>highest to lowest importance</a:t>
            </a:r>
            <a:r>
              <a:rPr lang="en-AU" sz="2000" i="1" dirty="0"/>
              <a:t>. </a:t>
            </a:r>
          </a:p>
          <a:p>
            <a:pPr lvl="0"/>
            <a:r>
              <a:rPr lang="en-AU" sz="2000" i="1" dirty="0"/>
              <a:t>Added a </a:t>
            </a:r>
            <a:r>
              <a:rPr lang="en-AU" sz="2000" b="1" i="1" dirty="0">
                <a:solidFill>
                  <a:schemeClr val="accent2"/>
                </a:solidFill>
              </a:rPr>
              <a:t>Rank column</a:t>
            </a:r>
            <a:r>
              <a:rPr lang="en-AU" sz="2000" i="1" dirty="0"/>
              <a:t> to identify the most influential features. </a:t>
            </a:r>
          </a:p>
          <a:p>
            <a:pPr marL="0" indent="0">
              <a:buNone/>
            </a:pPr>
            <a:r>
              <a:rPr lang="en-AU" sz="2000" b="1" dirty="0">
                <a:solidFill>
                  <a:srgbClr val="087E8B"/>
                </a:solidFill>
              </a:rPr>
              <a:t>Top 10 Feature Importance Ranking: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4C5FE4-7243-E583-C48D-E7AA25B16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858" y="3785419"/>
            <a:ext cx="7413523" cy="300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22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959546-6A49-FAC3-1B1F-99F6F8E76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60" y="467113"/>
            <a:ext cx="10416619" cy="540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8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2848-0B46-1132-65CC-8B0B7B57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511"/>
            <a:ext cx="10515600" cy="1074656"/>
          </a:xfrm>
        </p:spPr>
        <p:txBody>
          <a:bodyPr>
            <a:normAutofit fontScale="90000"/>
          </a:bodyPr>
          <a:lstStyle/>
          <a:p>
            <a:pPr algn="ctr"/>
            <a:br>
              <a:rPr lang="en-AU" sz="4000" b="1" i="1" dirty="0">
                <a:highlight>
                  <a:srgbClr val="0000FF"/>
                </a:highlight>
              </a:rPr>
            </a:br>
            <a:r>
              <a:rPr lang="en-AU" sz="4000" b="1" i="1" dirty="0">
                <a:solidFill>
                  <a:srgbClr val="12355B"/>
                </a:solidFill>
              </a:rPr>
              <a:t>Conclusion</a:t>
            </a:r>
            <a:br>
              <a:rPr lang="en-AU" b="1" i="1" dirty="0">
                <a:solidFill>
                  <a:srgbClr val="12355B"/>
                </a:solidFill>
                <a:highlight>
                  <a:srgbClr val="0000FF"/>
                </a:highlight>
              </a:rPr>
            </a:br>
            <a:endParaRPr lang="en-AU" b="1" i="1" dirty="0">
              <a:solidFill>
                <a:srgbClr val="12355B"/>
              </a:solidFill>
              <a:highlight>
                <a:srgbClr val="0000FF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3440A-E9CD-9337-B1B8-8B74E2DD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" y="1470661"/>
            <a:ext cx="10797540" cy="3870960"/>
          </a:xfrm>
        </p:spPr>
        <p:txBody>
          <a:bodyPr/>
          <a:lstStyle/>
          <a:p>
            <a:pPr marL="0" lvl="0" indent="0">
              <a:buNone/>
            </a:pPr>
            <a:endParaRPr lang="en-AU" sz="2000" b="1" i="1" dirty="0">
              <a:solidFill>
                <a:schemeClr val="accent2"/>
              </a:solidFill>
            </a:endParaRPr>
          </a:p>
          <a:p>
            <a:pPr lvl="0"/>
            <a:r>
              <a:rPr lang="en-AU" sz="2000" b="1" i="1" dirty="0"/>
              <a:t>EDA</a:t>
            </a:r>
            <a:r>
              <a:rPr lang="en-AU" sz="2000" i="1" dirty="0"/>
              <a:t> helped identify patterns and relationships in the dataset. </a:t>
            </a:r>
          </a:p>
          <a:p>
            <a:pPr lvl="0"/>
            <a:r>
              <a:rPr lang="en-AU" sz="2000" b="1" i="1" dirty="0"/>
              <a:t>Linear Regression </a:t>
            </a:r>
            <a:r>
              <a:rPr lang="en-AU" sz="2000" i="1" dirty="0"/>
              <a:t>was used for mobile price prediction. </a:t>
            </a:r>
          </a:p>
          <a:p>
            <a:pPr lvl="0"/>
            <a:r>
              <a:rPr lang="en-AU" sz="2000" b="1" i="1" dirty="0"/>
              <a:t>MAE, RMSE and R² </a:t>
            </a:r>
            <a:r>
              <a:rPr lang="en-AU" sz="2000" i="1" dirty="0"/>
              <a:t>were used for evaluation. </a:t>
            </a:r>
          </a:p>
          <a:p>
            <a:pPr lvl="0"/>
            <a:r>
              <a:rPr lang="en-AU" sz="2000" b="1" i="1" dirty="0"/>
              <a:t>Random Forest </a:t>
            </a:r>
            <a:r>
              <a:rPr lang="en-AU" sz="2000" i="1" dirty="0"/>
              <a:t>identified the most influential features. </a:t>
            </a:r>
          </a:p>
          <a:p>
            <a:pPr lvl="0"/>
            <a:r>
              <a:rPr lang="en-AU" sz="2000" i="1" dirty="0"/>
              <a:t>The analysis provides insights into factors affecting mobile phone prices.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8728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8203B73-DD59-D255-E564-1B6E4B6E547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425676" y="2281084"/>
            <a:ext cx="9999408" cy="18976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3600" b="1" i="1" dirty="0">
                <a:solidFill>
                  <a:srgbClr val="0070C0"/>
                </a:solidFill>
                <a:latin typeface="Algerian" panose="04020705040A02060702" pitchFamily="82" charset="0"/>
              </a:rPr>
              <a:t>THANK YOU</a:t>
            </a:r>
            <a:endParaRPr lang="en-AU" sz="3600" b="1" i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90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3550</TotalTime>
  <Words>493</Words>
  <Application>Microsoft Office PowerPoint</Application>
  <PresentationFormat>Widescreen</PresentationFormat>
  <Paragraphs>109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Office Theme</vt:lpstr>
      <vt:lpstr>Feature Extraction and Price Prediction for Mobile Phones</vt:lpstr>
      <vt:lpstr>Technologies </vt:lpstr>
      <vt:lpstr>Project Objective</vt:lpstr>
      <vt:lpstr>Data Exploration &amp; Preprocessing</vt:lpstr>
      <vt:lpstr>PowerPoint Presentation</vt:lpstr>
      <vt:lpstr>Exploratory Data Analysis(EDA)</vt:lpstr>
      <vt:lpstr>PowerPoint Presentation</vt:lpstr>
      <vt:lpstr>PowerPoint Presentation</vt:lpstr>
      <vt:lpstr>PowerPoint Presentation</vt:lpstr>
      <vt:lpstr>Feature Extraction</vt:lpstr>
      <vt:lpstr>PowerPoint Presentation</vt:lpstr>
      <vt:lpstr>Model Building &amp; Evaluation</vt:lpstr>
      <vt:lpstr>Model Evaluation: </vt:lpstr>
      <vt:lpstr>Feature Importance &amp; Conclusion</vt:lpstr>
      <vt:lpstr>PowerPoint Presentation</vt:lpstr>
      <vt:lpstr>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Ravalika Vellidandla</dc:creator>
  <cp:lastModifiedBy>Ravalika Vellidandla</cp:lastModifiedBy>
  <cp:revision>57</cp:revision>
  <dcterms:created xsi:type="dcterms:W3CDTF">2026-08-23T05:44:43Z</dcterms:created>
  <dcterms:modified xsi:type="dcterms:W3CDTF">2026-08-25T18:34:20Z</dcterms:modified>
</cp:coreProperties>
</file>